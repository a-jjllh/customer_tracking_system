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24163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050" y="4838700"/>
            <a:ext cx="1066800" cy="2476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" y="1257300"/>
            <a:ext cx="2619374" cy="26193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4400" y="1702384"/>
            <a:ext cx="4540250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F94CAE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F94CAE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F94CAE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F94CAE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24163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0050" y="4838700"/>
            <a:ext cx="1066800" cy="2476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1700" y="952500"/>
            <a:ext cx="4781550" cy="28384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24163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20050" y="4838700"/>
            <a:ext cx="1066800" cy="247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54400" y="1950034"/>
            <a:ext cx="2593340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F94CAE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8999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2600" y="1881327"/>
            <a:ext cx="3817620" cy="855980"/>
          </a:xfrm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35"/>
              </a:spcBef>
            </a:pPr>
            <a:r>
              <a:rPr dirty="0" sz="2700"/>
              <a:t>Smart</a:t>
            </a:r>
            <a:r>
              <a:rPr dirty="0" sz="2700" spc="370"/>
              <a:t> </a:t>
            </a:r>
            <a:r>
              <a:rPr dirty="0" sz="2700"/>
              <a:t>Visitor</a:t>
            </a:r>
            <a:r>
              <a:rPr dirty="0" sz="2700" spc="180"/>
              <a:t> </a:t>
            </a:r>
            <a:r>
              <a:rPr dirty="0" sz="2700"/>
              <a:t>Counter</a:t>
            </a:r>
            <a:r>
              <a:rPr dirty="0" sz="2700" spc="180"/>
              <a:t> </a:t>
            </a:r>
            <a:r>
              <a:rPr dirty="0" sz="2700" spc="-50"/>
              <a:t>— </a:t>
            </a:r>
            <a:r>
              <a:rPr dirty="0" sz="2700" spc="-35"/>
              <a:t>Team</a:t>
            </a:r>
            <a:r>
              <a:rPr dirty="0" sz="2700" spc="-50"/>
              <a:t> </a:t>
            </a:r>
            <a:r>
              <a:rPr dirty="0" sz="2700" spc="-10"/>
              <a:t>Unemployed</a:t>
            </a:r>
            <a:endParaRPr sz="2700"/>
          </a:p>
        </p:txBody>
      </p:sp>
      <p:sp>
        <p:nvSpPr>
          <p:cNvPr id="4" name="object 4"/>
          <p:cNvSpPr txBox="1"/>
          <p:nvPr/>
        </p:nvSpPr>
        <p:spPr>
          <a:xfrm>
            <a:off x="482600" y="3002254"/>
            <a:ext cx="43446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Course</a:t>
            </a:r>
            <a:r>
              <a:rPr dirty="0" sz="1100" spc="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project: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80">
                <a:solidFill>
                  <a:srgbClr val="DAD1E6"/>
                </a:solidFill>
                <a:latin typeface="Roboto"/>
                <a:cs typeface="Roboto"/>
              </a:rPr>
              <a:t>IoT</a:t>
            </a:r>
            <a:r>
              <a:rPr dirty="0" sz="1100" spc="-10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systems</a:t>
            </a:r>
            <a:r>
              <a:rPr dirty="0" sz="1100" spc="-3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•</a:t>
            </a:r>
            <a:r>
              <a:rPr dirty="0" sz="1100" spc="-5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DAD1E6"/>
                </a:solidFill>
                <a:latin typeface="Roboto"/>
                <a:cs typeface="Roboto"/>
              </a:rPr>
              <a:t>Team</a:t>
            </a:r>
            <a:r>
              <a:rPr dirty="0" sz="1100" spc="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members: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Amrithavarsh</a:t>
            </a:r>
            <a:r>
              <a:rPr dirty="0" sz="1100" spc="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K V,</a:t>
            </a:r>
            <a:r>
              <a:rPr dirty="0" sz="1100" spc="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Ajul</a:t>
            </a:r>
            <a:r>
              <a:rPr dirty="0" sz="1100" spc="-3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DAD1E6"/>
                </a:solidFill>
                <a:latin typeface="Roboto"/>
                <a:cs typeface="Roboto"/>
              </a:rPr>
              <a:t>P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8999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2600" y="2035759"/>
            <a:ext cx="2174240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25"/>
              <a:t> </a:t>
            </a:r>
            <a:r>
              <a:rPr dirty="0" spc="-10"/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2600" y="2579344"/>
            <a:ext cx="411924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Automatic</a:t>
            </a:r>
            <a:r>
              <a:rPr dirty="0" sz="1100" spc="-5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entry/exit</a:t>
            </a:r>
            <a:r>
              <a:rPr dirty="0" sz="1100" spc="9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counting</a:t>
            </a:r>
            <a:r>
              <a:rPr dirty="0" sz="1100" spc="6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with</a:t>
            </a:r>
            <a:r>
              <a:rPr dirty="0" sz="1100" spc="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DAD1E6"/>
                </a:solidFill>
                <a:latin typeface="Roboto"/>
                <a:cs typeface="Roboto"/>
              </a:rPr>
              <a:t>real-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time</a:t>
            </a:r>
            <a:r>
              <a:rPr dirty="0" sz="1100" spc="2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45">
                <a:solidFill>
                  <a:srgbClr val="DAD1E6"/>
                </a:solidFill>
                <a:latin typeface="Roboto"/>
                <a:cs typeface="Roboto"/>
              </a:rPr>
              <a:t>dashboard.</a:t>
            </a:r>
            <a:r>
              <a:rPr dirty="0" sz="1100" spc="-40">
                <a:solidFill>
                  <a:srgbClr val="DAD1E6"/>
                </a:solidFill>
                <a:latin typeface="Roboto"/>
                <a:cs typeface="Roboto"/>
              </a:rPr>
              <a:t> Low-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cost,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deployable</a:t>
            </a:r>
            <a:r>
              <a:rPr dirty="0" sz="1100" spc="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for</a:t>
            </a:r>
            <a:r>
              <a:rPr dirty="0" sz="1100" spc="29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Shops,</a:t>
            </a:r>
            <a:r>
              <a:rPr dirty="0" sz="1100" spc="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40">
                <a:solidFill>
                  <a:srgbClr val="DAD1E6"/>
                </a:solidFill>
                <a:latin typeface="Roboto"/>
                <a:cs typeface="Roboto"/>
              </a:rPr>
              <a:t>classrooms,</a:t>
            </a:r>
            <a:r>
              <a:rPr dirty="0" sz="1100" spc="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libraries,</a:t>
            </a:r>
            <a:r>
              <a:rPr dirty="0" sz="1100" spc="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ofﬁces,</a:t>
            </a:r>
            <a:r>
              <a:rPr dirty="0" sz="1100" spc="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events.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257300"/>
            <a:ext cx="2619374" cy="26193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Problem</a:t>
            </a:r>
            <a:r>
              <a:rPr dirty="0" spc="75"/>
              <a:t> </a:t>
            </a:r>
            <a:r>
              <a:rPr dirty="0"/>
              <a:t>&amp;</a:t>
            </a:r>
            <a:r>
              <a:rPr dirty="0" spc="-15"/>
              <a:t> </a:t>
            </a:r>
            <a:r>
              <a:rPr dirty="0" spc="-10"/>
              <a:t>Objective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21100" y="2426944"/>
            <a:ext cx="3084830" cy="65405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  <a:tabLst>
                <a:tab pos="1743075" algn="l"/>
              </a:tabLst>
            </a:pP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Problem: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manual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counting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	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errors,</a:t>
            </a:r>
            <a:r>
              <a:rPr dirty="0" sz="1100" spc="-5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delays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Objective: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30">
                <a:solidFill>
                  <a:srgbClr val="DAD1E6"/>
                </a:solidFill>
                <a:latin typeface="Roboto"/>
                <a:cs typeface="Roboto"/>
              </a:rPr>
              <a:t>reliable,</a:t>
            </a:r>
            <a:r>
              <a:rPr dirty="0" sz="1100" spc="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automated</a:t>
            </a:r>
            <a:r>
              <a:rPr dirty="0" sz="1100" spc="-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visitor</a:t>
            </a:r>
            <a:r>
              <a:rPr dirty="0" sz="1100" spc="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tracking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Use</a:t>
            </a:r>
            <a:r>
              <a:rPr dirty="0" sz="1100" spc="-6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40">
                <a:solidFill>
                  <a:srgbClr val="DAD1E6"/>
                </a:solidFill>
                <a:latin typeface="Roboto"/>
                <a:cs typeface="Roboto"/>
              </a:rPr>
              <a:t>cases:</a:t>
            </a:r>
            <a:r>
              <a:rPr dirty="0" sz="1100" spc="-3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attendance,</a:t>
            </a:r>
            <a:r>
              <a:rPr dirty="0" sz="1100" spc="-30">
                <a:solidFill>
                  <a:srgbClr val="DAD1E6"/>
                </a:solidFill>
                <a:latin typeface="Roboto"/>
                <a:cs typeface="Roboto"/>
              </a:rPr>
              <a:t> occupancy</a:t>
            </a:r>
            <a:r>
              <a:rPr dirty="0" sz="1100" spc="3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limits,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analytics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257300"/>
            <a:ext cx="2619374" cy="26193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5"/>
              <a:t>Components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110"/>
              <a:t> </a:t>
            </a:r>
            <a:r>
              <a:rPr dirty="0" spc="-60"/>
              <a:t>Tech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21100" y="2426944"/>
            <a:ext cx="388048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8100">
              <a:lnSpc>
                <a:spcPct val="125000"/>
              </a:lnSpc>
              <a:spcBef>
                <a:spcPts val="100"/>
              </a:spcBef>
            </a:pP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Hardware:</a:t>
            </a:r>
            <a:r>
              <a:rPr dirty="0" sz="1100" spc="-4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Arduino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Uno,</a:t>
            </a:r>
            <a:r>
              <a:rPr dirty="0" sz="1100" spc="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2</a:t>
            </a:r>
            <a:r>
              <a:rPr dirty="0" sz="1100" spc="-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DAD1E6"/>
                </a:solidFill>
                <a:latin typeface="Roboto"/>
                <a:cs typeface="Roboto"/>
              </a:rPr>
              <a:t>IR</a:t>
            </a:r>
            <a:r>
              <a:rPr dirty="0" sz="1100" spc="-5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sensors,</a:t>
            </a:r>
            <a:r>
              <a:rPr dirty="0" sz="1100" spc="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breadboard,</a:t>
            </a:r>
            <a:r>
              <a:rPr dirty="0" sz="1100" spc="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jumper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wires Optional:</a:t>
            </a:r>
            <a:r>
              <a:rPr dirty="0" sz="1100" spc="-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55">
                <a:solidFill>
                  <a:srgbClr val="DAD1E6"/>
                </a:solidFill>
                <a:latin typeface="Roboto"/>
                <a:cs typeface="Roboto"/>
              </a:rPr>
              <a:t>ESP8266/ESP32</a:t>
            </a:r>
            <a:r>
              <a:rPr dirty="0" sz="1100" spc="2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for</a:t>
            </a:r>
            <a:r>
              <a:rPr dirty="0" sz="1100" spc="4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65">
                <a:solidFill>
                  <a:srgbClr val="DAD1E6"/>
                </a:solidFill>
                <a:latin typeface="Roboto"/>
                <a:cs typeface="Roboto"/>
              </a:rPr>
              <a:t>Wi-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Fi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Software:</a:t>
            </a:r>
            <a:r>
              <a:rPr dirty="0" sz="1100" spc="-7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Arduino</a:t>
            </a:r>
            <a:r>
              <a:rPr dirty="0" sz="1100" spc="-4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DAD1E6"/>
                </a:solidFill>
                <a:latin typeface="Roboto"/>
                <a:cs typeface="Roboto"/>
              </a:rPr>
              <a:t>IDE;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DAD1E6"/>
                </a:solidFill>
                <a:latin typeface="Roboto"/>
                <a:cs typeface="Roboto"/>
              </a:rPr>
              <a:t>Dashboard:</a:t>
            </a:r>
            <a:r>
              <a:rPr dirty="0" sz="1100" spc="-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30">
                <a:solidFill>
                  <a:srgbClr val="DAD1E6"/>
                </a:solidFill>
                <a:latin typeface="Roboto"/>
                <a:cs typeface="Roboto"/>
              </a:rPr>
              <a:t>ThingSpeak</a:t>
            </a:r>
            <a:r>
              <a:rPr dirty="0" sz="1100" spc="3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/</a:t>
            </a:r>
            <a:r>
              <a:rPr dirty="0" sz="1100" spc="-7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Blynk</a:t>
            </a:r>
            <a:r>
              <a:rPr dirty="0" sz="1100" spc="3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/</a:t>
            </a:r>
            <a:r>
              <a:rPr dirty="0" sz="1100" spc="-7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custom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552575"/>
            <a:ext cx="3048000" cy="20288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83025" y="2073859"/>
            <a:ext cx="3695065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Connection</a:t>
            </a:r>
            <a:r>
              <a:rPr dirty="0" spc="155"/>
              <a:t> </a:t>
            </a:r>
            <a:r>
              <a:rPr dirty="0"/>
              <a:t>/</a:t>
            </a:r>
            <a:r>
              <a:rPr dirty="0" spc="-75"/>
              <a:t> </a:t>
            </a:r>
            <a:r>
              <a:rPr dirty="0"/>
              <a:t>Circuit</a:t>
            </a:r>
            <a:r>
              <a:rPr dirty="0" spc="290"/>
              <a:t> </a:t>
            </a:r>
            <a:r>
              <a:rPr dirty="0" spc="-10"/>
              <a:t>Diagram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83025" y="2550769"/>
            <a:ext cx="449135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  <a:tabLst>
                <a:tab pos="447675" algn="l"/>
                <a:tab pos="2546350" algn="l"/>
                <a:tab pos="4008120" algn="l"/>
              </a:tabLst>
            </a:pP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Two</a:t>
            </a:r>
            <a:r>
              <a:rPr dirty="0" sz="1100" spc="-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DAD1E6"/>
                </a:solidFill>
                <a:latin typeface="Roboto"/>
                <a:cs typeface="Roboto"/>
              </a:rPr>
              <a:t>IR</a:t>
            </a:r>
            <a:r>
              <a:rPr dirty="0" sz="1100" spc="-5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30">
                <a:solidFill>
                  <a:srgbClr val="DAD1E6"/>
                </a:solidFill>
                <a:latin typeface="Roboto"/>
                <a:cs typeface="Roboto"/>
              </a:rPr>
              <a:t>sensors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aligned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45">
                <a:solidFill>
                  <a:srgbClr val="DAD1E6"/>
                </a:solidFill>
                <a:latin typeface="Roboto"/>
                <a:cs typeface="Roboto"/>
              </a:rPr>
              <a:t>across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entrance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	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Arduino</a:t>
            </a:r>
            <a:r>
              <a:rPr dirty="0" sz="1100" spc="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digital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 inputs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	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counter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logic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	</a:t>
            </a:r>
            <a:r>
              <a:rPr dirty="0" sz="1100" spc="-30">
                <a:solidFill>
                  <a:srgbClr val="DAD1E6"/>
                </a:solidFill>
                <a:latin typeface="Roboto"/>
                <a:cs typeface="Roboto"/>
              </a:rPr>
              <a:t>display</a:t>
            </a:r>
            <a:r>
              <a:rPr dirty="0" sz="1100" spc="7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+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serial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out</a:t>
            </a:r>
            <a:r>
              <a:rPr dirty="0" sz="1100" spc="8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to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65">
                <a:solidFill>
                  <a:srgbClr val="DAD1E6"/>
                </a:solidFill>
                <a:latin typeface="Roboto"/>
                <a:cs typeface="Roboto"/>
              </a:rPr>
              <a:t>Wi-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Fi</a:t>
            </a:r>
            <a:r>
              <a:rPr dirty="0" sz="1100" spc="-4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module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257300"/>
            <a:ext cx="2619374" cy="26193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54400" y="1950034"/>
            <a:ext cx="2947035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Actual</a:t>
            </a:r>
            <a:r>
              <a:rPr dirty="0" spc="-40"/>
              <a:t> </a:t>
            </a:r>
            <a:r>
              <a:rPr dirty="0"/>
              <a:t>Hardware</a:t>
            </a:r>
            <a:r>
              <a:rPr dirty="0" spc="85"/>
              <a:t> </a:t>
            </a:r>
            <a:r>
              <a:rPr dirty="0" spc="-20"/>
              <a:t>Setup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21100" y="2426944"/>
            <a:ext cx="3011170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97535">
              <a:lnSpc>
                <a:spcPct val="125000"/>
              </a:lnSpc>
              <a:spcBef>
                <a:spcPts val="100"/>
              </a:spcBef>
            </a:pPr>
            <a:r>
              <a:rPr dirty="0" sz="1100" spc="-45">
                <a:solidFill>
                  <a:srgbClr val="DAD1E6"/>
                </a:solidFill>
                <a:latin typeface="Roboto"/>
                <a:cs typeface="Roboto"/>
              </a:rPr>
              <a:t>Breadboard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85">
                <a:solidFill>
                  <a:srgbClr val="DAD1E6"/>
                </a:solidFill>
                <a:latin typeface="Roboto"/>
                <a:cs typeface="Roboto"/>
              </a:rPr>
              <a:t>100x160</a:t>
            </a:r>
            <a:r>
              <a:rPr dirty="0" sz="1100" spc="7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with</a:t>
            </a:r>
            <a:r>
              <a:rPr dirty="0" sz="1100" spc="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jumper</a:t>
            </a:r>
            <a:r>
              <a:rPr dirty="0" sz="1100" spc="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wiring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Arduino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 Uno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Rev3</a:t>
            </a:r>
            <a:r>
              <a:rPr dirty="0" sz="1100" spc="-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(no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45">
                <a:solidFill>
                  <a:srgbClr val="DAD1E6"/>
                </a:solidFill>
                <a:latin typeface="Roboto"/>
                <a:cs typeface="Roboto"/>
              </a:rPr>
              <a:t>ESP</a:t>
            </a:r>
            <a:r>
              <a:rPr dirty="0" sz="1100" spc="-7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onboard)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Sensor</a:t>
            </a:r>
            <a:r>
              <a:rPr dirty="0" sz="1100" spc="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placement: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staggered</a:t>
            </a:r>
            <a:r>
              <a:rPr dirty="0" sz="1100" spc="-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to</a:t>
            </a:r>
            <a:r>
              <a:rPr dirty="0" sz="1100" spc="-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detect</a:t>
            </a:r>
            <a:r>
              <a:rPr dirty="0" sz="1100" spc="10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direction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7550" y="3115335"/>
            <a:ext cx="5937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DAD1E6"/>
                </a:solidFill>
                <a:latin typeface="Roboto"/>
                <a:cs typeface="Roboto"/>
              </a:rPr>
              <a:t>Update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21175" y="3115335"/>
            <a:ext cx="5543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DAD1E6"/>
                </a:solidFill>
                <a:latin typeface="Roboto"/>
                <a:cs typeface="Roboto"/>
              </a:rPr>
              <a:t>Decide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97175" y="3115335"/>
            <a:ext cx="5397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DAD1E6"/>
                </a:solidFill>
                <a:latin typeface="Roboto"/>
                <a:cs typeface="Roboto"/>
              </a:rPr>
              <a:t>Detect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2600" y="3954754"/>
            <a:ext cx="45269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1930" algn="l"/>
                <a:tab pos="2750820" algn="l"/>
              </a:tabLst>
            </a:pP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Realtime</a:t>
            </a:r>
            <a:r>
              <a:rPr dirty="0" sz="1100" spc="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loop: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detect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	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decide</a:t>
            </a:r>
            <a:r>
              <a:rPr dirty="0" sz="1100" spc="-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(entry/exit)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	update</a:t>
            </a:r>
            <a:r>
              <a:rPr dirty="0" sz="1100" spc="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+</a:t>
            </a:r>
            <a:r>
              <a:rPr dirty="0" sz="1100" spc="-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push</a:t>
            </a:r>
            <a:r>
              <a:rPr dirty="0" sz="1100" spc="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to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30">
                <a:solidFill>
                  <a:srgbClr val="DAD1E6"/>
                </a:solidFill>
                <a:latin typeface="Roboto"/>
                <a:cs typeface="Roboto"/>
              </a:rPr>
              <a:t>dashboard.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466849"/>
            <a:ext cx="3895725" cy="219075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30750" y="1835734"/>
            <a:ext cx="2469515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Dashboard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20"/>
              <a:t> </a:t>
            </a:r>
            <a:r>
              <a:rPr dirty="0" spc="-20"/>
              <a:t>Demo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97450" y="2322169"/>
            <a:ext cx="3308350" cy="86360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Live</a:t>
            </a:r>
            <a:r>
              <a:rPr dirty="0" sz="1100" spc="3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counter</a:t>
            </a:r>
            <a:r>
              <a:rPr dirty="0" sz="1100" spc="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widget</a:t>
            </a:r>
            <a:r>
              <a:rPr dirty="0" sz="1100" spc="10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+</a:t>
            </a:r>
            <a:r>
              <a:rPr dirty="0" sz="1100" spc="-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time-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series</a:t>
            </a:r>
            <a:r>
              <a:rPr dirty="0" sz="1100" spc="-3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graph</a:t>
            </a:r>
            <a:endParaRPr sz="1100">
              <a:latin typeface="Roboto"/>
              <a:cs typeface="Roboto"/>
            </a:endParaRPr>
          </a:p>
          <a:p>
            <a:pPr marL="12700" marR="5080">
              <a:lnSpc>
                <a:spcPct val="125000"/>
              </a:lnSpc>
            </a:pP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Demo:</a:t>
            </a:r>
            <a:r>
              <a:rPr dirty="0" sz="1100" spc="-4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short</a:t>
            </a:r>
            <a:r>
              <a:rPr dirty="0" sz="1100" spc="8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video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shows</a:t>
            </a:r>
            <a:r>
              <a:rPr dirty="0" sz="1100" spc="-4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people</a:t>
            </a:r>
            <a:r>
              <a:rPr dirty="0" sz="1100" spc="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entering/exiting</a:t>
            </a:r>
            <a:r>
              <a:rPr dirty="0" sz="1100" spc="5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and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counter</a:t>
            </a:r>
            <a:r>
              <a:rPr dirty="0" sz="1100" spc="-1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updating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Screenshots:</a:t>
            </a:r>
            <a:r>
              <a:rPr dirty="0" sz="1100" spc="-4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current</a:t>
            </a:r>
            <a:r>
              <a:rPr dirty="0" sz="1100" spc="5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count, </a:t>
            </a:r>
            <a:r>
              <a:rPr dirty="0" sz="1100" spc="-40">
                <a:solidFill>
                  <a:srgbClr val="DAD1E6"/>
                </a:solidFill>
                <a:latin typeface="Roboto"/>
                <a:cs typeface="Roboto"/>
              </a:rPr>
              <a:t>historical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trend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8999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2600" y="1559509"/>
            <a:ext cx="4462145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Results,</a:t>
            </a:r>
            <a:r>
              <a:rPr dirty="0" spc="75"/>
              <a:t> </a:t>
            </a:r>
            <a:r>
              <a:rPr dirty="0"/>
              <a:t>Observations</a:t>
            </a:r>
            <a:r>
              <a:rPr dirty="0" spc="-85"/>
              <a:t> </a:t>
            </a:r>
            <a:r>
              <a:rPr dirty="0"/>
              <a:t>&amp;</a:t>
            </a:r>
            <a:r>
              <a:rPr dirty="0" spc="40"/>
              <a:t> </a:t>
            </a:r>
            <a:r>
              <a:rPr dirty="0" spc="-10"/>
              <a:t>Challenges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9300" y="2455519"/>
            <a:ext cx="3656329" cy="86360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Accurate</a:t>
            </a:r>
            <a:r>
              <a:rPr dirty="0" sz="1100" spc="-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counting</a:t>
            </a:r>
            <a:r>
              <a:rPr dirty="0" sz="1100" spc="3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in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45">
                <a:solidFill>
                  <a:srgbClr val="DAD1E6"/>
                </a:solidFill>
                <a:latin typeface="Roboto"/>
                <a:cs typeface="Roboto"/>
              </a:rPr>
              <a:t>single-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entry</a:t>
            </a:r>
            <a:r>
              <a:rPr dirty="0" sz="1100" spc="5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ﬂows</a:t>
            </a:r>
            <a:endParaRPr sz="1100">
              <a:latin typeface="Roboto"/>
              <a:cs typeface="Roboto"/>
            </a:endParaRPr>
          </a:p>
          <a:p>
            <a:pPr marL="12700" marR="5080">
              <a:lnSpc>
                <a:spcPct val="125000"/>
              </a:lnSpc>
            </a:pP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Fast</a:t>
            </a:r>
            <a:r>
              <a:rPr dirty="0" sz="1100" spc="9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sensor</a:t>
            </a:r>
            <a:r>
              <a:rPr dirty="0" sz="1100" spc="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response;</a:t>
            </a:r>
            <a:r>
              <a:rPr dirty="0" sz="1100" spc="-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near</a:t>
            </a:r>
            <a:r>
              <a:rPr dirty="0" sz="1100" spc="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80">
                <a:solidFill>
                  <a:srgbClr val="DAD1E6"/>
                </a:solidFill>
                <a:latin typeface="Roboto"/>
                <a:cs typeface="Roboto"/>
              </a:rPr>
              <a:t>real-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time</a:t>
            </a:r>
            <a:r>
              <a:rPr dirty="0" sz="1100" spc="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45">
                <a:solidFill>
                  <a:srgbClr val="DAD1E6"/>
                </a:solidFill>
                <a:latin typeface="Roboto"/>
                <a:cs typeface="Roboto"/>
              </a:rPr>
              <a:t>dashboard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 updates 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Limitations: simultaneous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two-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person</a:t>
            </a:r>
            <a:r>
              <a:rPr dirty="0" sz="1100" spc="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entries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40">
                <a:solidFill>
                  <a:srgbClr val="DAD1E6"/>
                </a:solidFill>
                <a:latin typeface="Roboto"/>
                <a:cs typeface="Roboto"/>
              </a:rPr>
              <a:t>can</a:t>
            </a:r>
            <a:r>
              <a:rPr dirty="0" sz="1100" spc="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miscount 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Robustness: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wiring</a:t>
            </a:r>
            <a:r>
              <a:rPr dirty="0" sz="1100" spc="3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neatness</a:t>
            </a:r>
            <a:r>
              <a:rPr dirty="0" sz="1100" spc="-4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and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 sensor</a:t>
            </a:r>
            <a:r>
              <a:rPr dirty="0" sz="1100" spc="-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alignment</a:t>
            </a:r>
            <a:r>
              <a:rPr dirty="0" sz="1100" spc="7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matter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220"/>
              <a:t> </a:t>
            </a:r>
            <a:r>
              <a:rPr dirty="0"/>
              <a:t>Enhancements</a:t>
            </a:r>
            <a:r>
              <a:rPr dirty="0" spc="75"/>
              <a:t> </a:t>
            </a:r>
            <a:r>
              <a:rPr dirty="0"/>
              <a:t>&amp;</a:t>
            </a:r>
            <a:r>
              <a:rPr dirty="0" spc="245"/>
              <a:t> </a:t>
            </a:r>
            <a:r>
              <a:rPr dirty="0" spc="-1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1100" y="2179294"/>
            <a:ext cx="4855210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01775">
              <a:lnSpc>
                <a:spcPct val="125000"/>
              </a:lnSpc>
              <a:spcBef>
                <a:spcPts val="100"/>
              </a:spcBef>
            </a:pP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Add </a:t>
            </a:r>
            <a:r>
              <a:rPr dirty="0" sz="1100" spc="-55">
                <a:solidFill>
                  <a:srgbClr val="DAD1E6"/>
                </a:solidFill>
                <a:latin typeface="Roboto"/>
                <a:cs typeface="Roboto"/>
              </a:rPr>
              <a:t>ESP8266/ESP32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 for</a:t>
            </a:r>
            <a:r>
              <a:rPr dirty="0" sz="1100" spc="2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cloud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sync</a:t>
            </a:r>
            <a:r>
              <a:rPr dirty="0" sz="1100" spc="-3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and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 remote</a:t>
            </a:r>
            <a:r>
              <a:rPr dirty="0" sz="1100" spc="3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access 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Mobile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notiﬁcations,</a:t>
            </a:r>
            <a:r>
              <a:rPr dirty="0" sz="1100" spc="-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mobile</a:t>
            </a:r>
            <a:r>
              <a:rPr dirty="0" sz="1100" spc="-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app</a:t>
            </a:r>
            <a:r>
              <a:rPr dirty="0" sz="1100" spc="2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integration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-55">
                <a:solidFill>
                  <a:srgbClr val="DAD1E6"/>
                </a:solidFill>
                <a:latin typeface="Roboto"/>
                <a:cs typeface="Roboto"/>
              </a:rPr>
              <a:t>Camera-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based</a:t>
            </a:r>
            <a:r>
              <a:rPr dirty="0" sz="1100" spc="-3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detection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/</a:t>
            </a:r>
            <a:r>
              <a:rPr dirty="0" sz="1100" spc="-6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ML for </a:t>
            </a:r>
            <a:r>
              <a:rPr dirty="0" sz="1100" spc="-35">
                <a:solidFill>
                  <a:srgbClr val="DAD1E6"/>
                </a:solidFill>
                <a:latin typeface="Roboto"/>
                <a:cs typeface="Roboto"/>
              </a:rPr>
              <a:t>multi-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person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 accuracy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-45">
                <a:solidFill>
                  <a:srgbClr val="DAD1E6"/>
                </a:solidFill>
                <a:latin typeface="Roboto"/>
                <a:cs typeface="Roboto"/>
              </a:rPr>
              <a:t>Conclusion:</a:t>
            </a:r>
            <a:r>
              <a:rPr dirty="0" sz="1100" spc="-2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system</a:t>
            </a:r>
            <a:r>
              <a:rPr dirty="0" sz="1100" spc="-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automates</a:t>
            </a:r>
            <a:r>
              <a:rPr dirty="0" sz="1100" spc="-4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counts,</a:t>
            </a:r>
            <a:r>
              <a:rPr dirty="0" sz="1100" spc="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DAD1E6"/>
                </a:solidFill>
                <a:latin typeface="Roboto"/>
                <a:cs typeface="Roboto"/>
              </a:rPr>
              <a:t>reduces</a:t>
            </a:r>
            <a:r>
              <a:rPr dirty="0" sz="1100" spc="-45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error,</a:t>
            </a:r>
            <a:r>
              <a:rPr dirty="0" sz="1100" spc="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55">
                <a:solidFill>
                  <a:srgbClr val="DAD1E6"/>
                </a:solidFill>
                <a:latin typeface="Roboto"/>
                <a:cs typeface="Roboto"/>
              </a:rPr>
              <a:t>scalable</a:t>
            </a:r>
            <a:r>
              <a:rPr dirty="0" sz="1100" spc="1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DAD1E6"/>
                </a:solidFill>
                <a:latin typeface="Roboto"/>
                <a:cs typeface="Roboto"/>
              </a:rPr>
              <a:t>for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many</a:t>
            </a:r>
            <a:r>
              <a:rPr dirty="0" sz="1100" spc="70">
                <a:solidFill>
                  <a:srgbClr val="DAD1E6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DAD1E6"/>
                </a:solidFill>
                <a:latin typeface="Roboto"/>
                <a:cs typeface="Roboto"/>
              </a:rPr>
              <a:t>venues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2026-06-12T04:50:29Z</dcterms:created>
  <dcterms:modified xsi:type="dcterms:W3CDTF">2026-06-12T04:50:29Z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2026-06-12T00:00:00Z</vt:filetime>
  </property>
  <property fmtid="{D5CDD505-2E9C-101B-9397-08002B2CF9AE}" pid="4" name="LastSaved">
    <vt:filetime>2026-06-12T00:00:00Z</vt:filetime>
  </property>
</Properties>
</file>